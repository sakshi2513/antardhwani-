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4"/>
  </p:sldMasterIdLst>
  <p:notesMasterIdLst>
    <p:notesMasterId r:id="rId11"/>
  </p:notesMasterIdLst>
  <p:handoutMasterIdLst>
    <p:handoutMasterId r:id="rId12"/>
  </p:handoutMasterIdLst>
  <p:sldIdLst>
    <p:sldId id="1865" r:id="rId5"/>
    <p:sldId id="1867" r:id="rId6"/>
    <p:sldId id="1866" r:id="rId7"/>
    <p:sldId id="1870" r:id="rId8"/>
    <p:sldId id="1871" r:id="rId9"/>
    <p:sldId id="1872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t 1" id="{1CA46CF7-019E-4A07-AEE4-E178E9B912FC}">
          <p14:sldIdLst>
            <p14:sldId id="1865"/>
            <p14:sldId id="1867"/>
            <p14:sldId id="1866"/>
            <p14:sldId id="1870"/>
            <p14:sldId id="1871"/>
            <p14:sldId id="18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552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CCCC"/>
    <a:srgbClr val="FF2625"/>
    <a:srgbClr val="007788"/>
    <a:srgbClr val="297C2A"/>
    <a:srgbClr val="FE4387"/>
    <a:srgbClr val="F69000"/>
    <a:srgbClr val="01C2D1"/>
    <a:srgbClr val="D6D734"/>
    <a:srgbClr val="005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orient="horz" pos="2184"/>
        <p:guide pos="552"/>
        <p:guide pos="7200"/>
        <p:guide pos="4368"/>
      </p:guideLst>
    </p:cSldViewPr>
  </p:slideViewPr>
  <p:outlineViewPr>
    <p:cViewPr>
      <p:scale>
        <a:sx n="33" d="100"/>
        <a:sy n="33" d="100"/>
      </p:scale>
      <p:origin x="0" y="-24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rth sheogekar" userId="f54b6f7b0fc81b35" providerId="LiveId" clId="{963C68B2-111C-435D-B97D-44EFFB2FBDA7}"/>
    <pc:docChg chg="undo custSel modSld">
      <pc:chgData name="samarth sheogekar" userId="f54b6f7b0fc81b35" providerId="LiveId" clId="{963C68B2-111C-435D-B97D-44EFFB2FBDA7}" dt="2026-03-20T10:06:07.310" v="3" actId="14100"/>
      <pc:docMkLst>
        <pc:docMk/>
      </pc:docMkLst>
      <pc:sldChg chg="modSp mod">
        <pc:chgData name="samarth sheogekar" userId="f54b6f7b0fc81b35" providerId="LiveId" clId="{963C68B2-111C-435D-B97D-44EFFB2FBDA7}" dt="2026-03-20T10:06:07.310" v="3" actId="14100"/>
        <pc:sldMkLst>
          <pc:docMk/>
          <pc:sldMk cId="2647525305" sldId="1865"/>
        </pc:sldMkLst>
        <pc:spChg chg="mod">
          <ac:chgData name="samarth sheogekar" userId="f54b6f7b0fc81b35" providerId="LiveId" clId="{963C68B2-111C-435D-B97D-44EFFB2FBDA7}" dt="2026-03-20T10:06:07.310" v="3" actId="14100"/>
          <ac:spMkLst>
            <pc:docMk/>
            <pc:sldMk cId="2647525305" sldId="1865"/>
            <ac:spMk id="12" creationId="{DEEDBE36-AFA9-52FC-387E-547288CDA71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E63EFB-A45E-45D2-917C-2262C9B2BC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7B3576-EAA7-4886-8787-F094B8D8EE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E40A2C-D4F8-447C-8646-65B62384632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69D18-8FB0-418D-B70C-328BCC8125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3EAB1-782C-4544-A059-833371A45B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E8B11-E9E4-46BC-B69D-DFCBD15173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8142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350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7067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FA415FA-D077-4CB7-8CBC-8F39C7C517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0480" y="2770632"/>
            <a:ext cx="7443216" cy="1325563"/>
          </a:xfrm>
        </p:spPr>
        <p:txBody>
          <a:bodyPr anchor="ctr">
            <a:normAutofit/>
          </a:bodyPr>
          <a:lstStyle>
            <a:lvl1pPr algn="ctr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484D66F-7657-44F5-BAE9-F676B76CB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3800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308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hot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905000"/>
            <a:ext cx="5334000" cy="3276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283464" indent="-283464">
              <a:spcBef>
                <a:spcPts val="1000"/>
              </a:spcBef>
              <a:defRPr sz="180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B1932CF-F265-4AEE-8704-F42C01AFB4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02624" y="715962"/>
            <a:ext cx="4227375" cy="4727907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4D0D78-72DF-43BD-8B4F-DE52DA01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5334000" cy="118903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AFD71A9-C105-43A7-88DA-9FFC5174C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000750"/>
            <a:ext cx="121920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59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905000"/>
            <a:ext cx="5334000" cy="3276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283464" indent="-283464">
              <a:spcBef>
                <a:spcPts val="1000"/>
              </a:spcBef>
              <a:defRPr sz="180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444081"/>
            <a:ext cx="4572000" cy="23622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74AC9B3-247D-45E3-9C91-C248ADAFBA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000750"/>
            <a:ext cx="12192000" cy="85725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B8295CA-882D-4533-80DA-6D6EA012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5334000" cy="118903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292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905000"/>
            <a:ext cx="6477000" cy="3276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283464" indent="-283464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Graphic 7" hidden="1">
            <a:extLst>
              <a:ext uri="{FF2B5EF4-FFF2-40B4-BE49-F238E27FC236}">
                <a16:creationId xmlns:a16="http://schemas.microsoft.com/office/drawing/2014/main" id="{606CCDFE-8488-471E-A2E2-3C7504F25F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3874" y="0"/>
            <a:ext cx="3558126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A7A9776-2781-49A6-AD44-CE45C0543F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0"/>
            <a:ext cx="3810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2FE0FB-930A-4056-8430-A6353A5DA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8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Yello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905000"/>
            <a:ext cx="6477000" cy="3276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283464" indent="-283464">
              <a:spcBef>
                <a:spcPts val="1000"/>
              </a:spcBef>
              <a:defRPr sz="180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Graphic 7" hidden="1">
            <a:extLst>
              <a:ext uri="{FF2B5EF4-FFF2-40B4-BE49-F238E27FC236}">
                <a16:creationId xmlns:a16="http://schemas.microsoft.com/office/drawing/2014/main" id="{606CCDFE-8488-471E-A2E2-3C7504F25F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3874" y="0"/>
            <a:ext cx="3558126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A7A9776-2781-49A6-AD44-CE45C0543F4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0"/>
            <a:ext cx="3810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2FE0FB-930A-4056-8430-A6353A5DA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49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3900" y="1905000"/>
            <a:ext cx="6955734" cy="3276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  <a:lvl2pPr marL="283464" indent="-283464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3" name="Graphic 12" hidden="1">
            <a:extLst>
              <a:ext uri="{FF2B5EF4-FFF2-40B4-BE49-F238E27FC236}">
                <a16:creationId xmlns:a16="http://schemas.microsoft.com/office/drawing/2014/main" id="{8393C3A4-D09E-47EB-B9F0-C1DDDEB3B1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3810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829B5F1-1C12-4A1B-A83C-BFE17D26D9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62E947-C679-46EB-896A-20E35578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3898" y="715961"/>
            <a:ext cx="6955735" cy="118903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i="0" cap="none" spc="-50" baseline="0">
                <a:ln w="3175">
                  <a:noFill/>
                </a:ln>
                <a:solidFill>
                  <a:schemeClr val="tx1"/>
                </a:solidFill>
                <a:effectLst/>
                <a:ea typeface="+mn-ea"/>
                <a:cs typeface="Segoe UI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19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6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Yellow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33900" y="1905000"/>
            <a:ext cx="6955734" cy="3276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283464" indent="-283464">
              <a:spcBef>
                <a:spcPts val="1000"/>
              </a:spcBef>
              <a:defRPr sz="1800">
                <a:solidFill>
                  <a:schemeClr val="accent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3" name="Graphic 12" hidden="1">
            <a:extLst>
              <a:ext uri="{FF2B5EF4-FFF2-40B4-BE49-F238E27FC236}">
                <a16:creationId xmlns:a16="http://schemas.microsoft.com/office/drawing/2014/main" id="{8393C3A4-D09E-47EB-B9F0-C1DDDEB3B1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3810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829B5F1-1C12-4A1B-A83C-BFE17D26D9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62E947-C679-46EB-896A-20E35578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3898" y="715961"/>
            <a:ext cx="6955735" cy="118903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i="0" cap="none" spc="-50" baseline="0">
                <a:ln w="3175">
                  <a:noFill/>
                </a:ln>
                <a:solidFill>
                  <a:schemeClr val="accent1"/>
                </a:solidFill>
                <a:effectLst/>
                <a:ea typeface="+mn-ea"/>
                <a:cs typeface="Segoe UI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199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6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tti Content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75104"/>
            <a:ext cx="9141397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3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 with border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EE98737-74D2-46C7-8655-74871A4203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31248"/>
            <a:ext cx="12192000" cy="42862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146B861-BC3C-4898-95DE-944AB08755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340659"/>
            <a:ext cx="12192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644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04" userDrawn="1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16" userDrawn="1">
          <p15:clr>
            <a:srgbClr val="5ACBF0"/>
          </p15:clr>
        </p15:guide>
        <p15:guide id="4" orient="horz" pos="1560" userDrawn="1">
          <p15:clr>
            <a:srgbClr val="5ACBF0"/>
          </p15:clr>
        </p15:guide>
        <p15:guide id="5" orient="horz" pos="39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tti Conten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75104"/>
            <a:ext cx="9141397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 with border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4FBE5B2-2D6A-4DC6-9944-CF3D7EC50A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31248"/>
            <a:ext cx="12192000" cy="4286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9407BD0-C2EE-44A7-8749-433953FD1F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340659"/>
            <a:ext cx="1219200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056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84" userDrawn="1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16" userDrawn="1">
          <p15:clr>
            <a:srgbClr val="5ACBF0"/>
          </p15:clr>
        </p15:guide>
        <p15:guide id="4" orient="horz" pos="4128" userDrawn="1">
          <p15:clr>
            <a:srgbClr val="5ACBF0"/>
          </p15:clr>
        </p15:guide>
        <p15:guide id="5" orient="horz" pos="39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Pattern Blac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75104"/>
            <a:ext cx="9141397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Text Here</a:t>
            </a:r>
          </a:p>
        </p:txBody>
      </p:sp>
      <p:pic>
        <p:nvPicPr>
          <p:cNvPr id="6" name="Graphic 5" hidden="1">
            <a:extLst>
              <a:ext uri="{FF2B5EF4-FFF2-40B4-BE49-F238E27FC236}">
                <a16:creationId xmlns:a16="http://schemas.microsoft.com/office/drawing/2014/main" id="{1979441F-BDF5-41C8-933A-7E284F6703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852905"/>
            <a:ext cx="12192000" cy="85725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4C7544D-BD57-4504-AC5A-951E353C24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833855"/>
            <a:ext cx="121920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78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Pattern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C00585D-E155-409A-899A-29BDF4E57F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6577"/>
            <a:ext cx="10668000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text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44D9B-AA15-4DB5-AE58-0FA514F6FE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790699"/>
            <a:ext cx="10668000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66358F-3531-4B96-B041-02BD184014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833855"/>
            <a:ext cx="121920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04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5ED86-A26C-479A-8393-0BFDCBCD43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783952"/>
            <a:ext cx="10668000" cy="1111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E4664-9EEE-4A2F-B223-5F295C6BF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715964"/>
            <a:ext cx="10667999" cy="646332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z="4000" dirty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51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B9BC-7BE7-4893-90FD-CC95830FD8F2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5270E-046A-4C23-BC98-E307A7DD6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1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64696-E1F3-49EF-AEC8-730A16D9A23F}" type="datetimeFigureOut">
              <a:rPr lang="en-US" altLang="en-US" smtClean="0"/>
              <a:pPr/>
              <a:t>3/20/2026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2A1B0-4691-41D9-84E0-69D594EAA3F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5586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9" r:id="rId5"/>
    <p:sldLayoutId id="2147483730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EEDBE36-AFA9-52FC-387E-547288CDA71C}"/>
              </a:ext>
            </a:extLst>
          </p:cNvPr>
          <p:cNvSpPr txBox="1"/>
          <p:nvPr/>
        </p:nvSpPr>
        <p:spPr>
          <a:xfrm>
            <a:off x="2623457" y="881274"/>
            <a:ext cx="95685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0" b="1" dirty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20B0502040204020203" pitchFamily="66" charset="0"/>
                <a:cs typeface="Cavolini" panose="020B0502040204020203" pitchFamily="66" charset="0"/>
              </a:rPr>
              <a:t>ANTARDHWANI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366F9-009D-3F27-3D3F-988BD487EDDB}"/>
              </a:ext>
            </a:extLst>
          </p:cNvPr>
          <p:cNvSpPr txBox="1"/>
          <p:nvPr/>
        </p:nvSpPr>
        <p:spPr>
          <a:xfrm>
            <a:off x="4855029" y="2690336"/>
            <a:ext cx="71219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75"/>
              </a:spcBef>
              <a:buNone/>
            </a:pPr>
            <a:r>
              <a:rPr lang="en-US" sz="45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cs typeface="Times New Roman" panose="02020603050405020304" pitchFamily="18" charset="0"/>
              </a:rPr>
              <a:t>Catching Crises Before They Catch Us…..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CD7039-D336-6A76-EF1B-A1AF742082C2}"/>
              </a:ext>
            </a:extLst>
          </p:cNvPr>
          <p:cNvSpPr txBox="1"/>
          <p:nvPr/>
        </p:nvSpPr>
        <p:spPr>
          <a:xfrm>
            <a:off x="7772400" y="5976726"/>
            <a:ext cx="441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75"/>
              </a:spcBef>
              <a:buNone/>
            </a:pPr>
            <a:r>
              <a:rPr lang="en-US" sz="3200" b="1" dirty="0">
                <a:solidFill>
                  <a:srgbClr val="FFCC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cs typeface="Times New Roman" panose="02020603050405020304" pitchFamily="18" charset="0"/>
              </a:rPr>
              <a:t>By: Sakshi Sheogekar</a:t>
            </a:r>
          </a:p>
        </p:txBody>
      </p:sp>
    </p:spTree>
    <p:extLst>
      <p:ext uri="{BB962C8B-B14F-4D97-AF65-F5344CB8AC3E}">
        <p14:creationId xmlns:p14="http://schemas.microsoft.com/office/powerpoint/2010/main" val="264752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9B651FE-E722-11A0-6B26-E48E4D6A4D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39" r="3661" b="12842"/>
          <a:stretch>
            <a:fillRect/>
          </a:stretch>
        </p:blipFill>
        <p:spPr>
          <a:xfrm>
            <a:off x="0" y="609599"/>
            <a:ext cx="12192000" cy="56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62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A302849-2A9A-47A4-A0EB-5A3FA8BE7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673" y="228129"/>
            <a:ext cx="8218714" cy="949553"/>
          </a:xfrm>
        </p:spPr>
        <p:txBody>
          <a:bodyPr>
            <a:normAutofit/>
          </a:bodyPr>
          <a:lstStyle/>
          <a:p>
            <a:r>
              <a:rPr lang="en-IN" sz="4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KEY FEATURES &amp; INSIGHTS </a:t>
            </a:r>
            <a:endParaRPr lang="en-US" sz="4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DA34CE-819C-401D-D695-14C35E692FF9}"/>
              </a:ext>
            </a:extLst>
          </p:cNvPr>
          <p:cNvSpPr txBox="1"/>
          <p:nvPr/>
        </p:nvSpPr>
        <p:spPr>
          <a:xfrm>
            <a:off x="243673" y="1177682"/>
            <a:ext cx="8083898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D73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Tracks health &amp; social signals continuously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D73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 Detection: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Spots early signs of stress or mood changes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D73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Analysis: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Understands speech &amp; text for mental health insights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D73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AI: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Anticipates risks before crises happen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D73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 Support: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Suggests timely interventions &amp; care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D73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Dashboards: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Heatmaps &amp; charts for quick insights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6D734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Edge: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Predictive, community-focused, multi-layer intelligence</a:t>
            </a:r>
          </a:p>
        </p:txBody>
      </p:sp>
    </p:spTree>
    <p:extLst>
      <p:ext uri="{BB962C8B-B14F-4D97-AF65-F5344CB8AC3E}">
        <p14:creationId xmlns:p14="http://schemas.microsoft.com/office/powerpoint/2010/main" val="39519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4BA618-BF38-4C66-A054-AA45BAEA1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7458" y="226104"/>
            <a:ext cx="8044542" cy="96043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900" u="sng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WHAT MAKES ANTARDHWANI UNIQUE </a:t>
            </a:r>
            <a:r>
              <a:rPr lang="en-IN" sz="4900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??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61E3282-C8E8-67BF-0C1B-6C9FF97F386D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4487636" y="2205254"/>
            <a:ext cx="736418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18000"/>
              <a:buFont typeface="Arial" panose="020B0604020202020204" pitchFamily="34" charset="0"/>
              <a:buChar char="•"/>
              <a:tabLst/>
            </a:pPr>
            <a:r>
              <a:rPr lang="en-US" altLang="en-US" sz="27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Spots mental health risks before crises occur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18000"/>
              <a:buFont typeface="Arial" panose="020B0604020202020204" pitchFamily="34" charset="0"/>
              <a:buChar char="•"/>
              <a:tabLst/>
            </a:pPr>
            <a:r>
              <a:rPr lang="en-US" altLang="en-US" sz="27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behavior, language, and data for smarter insights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18000"/>
              <a:buFont typeface="Arial" panose="020B0604020202020204" pitchFamily="34" charset="0"/>
              <a:buChar char="•"/>
              <a:tabLst/>
            </a:pPr>
            <a:r>
              <a:rPr lang="en-US" altLang="en-US" sz="27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Understands community and individual trends while respecting privacy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18000"/>
              <a:buFont typeface="Arial" panose="020B0604020202020204" pitchFamily="34" charset="0"/>
              <a:buChar char="•"/>
              <a:tabLst/>
            </a:pPr>
            <a:r>
              <a:rPr lang="en-US" altLang="en-US" sz="27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actionable interventions, not just reports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Pct val="118000"/>
              <a:buFont typeface="Arial" panose="020B0604020202020204" pitchFamily="34" charset="0"/>
              <a:buChar char="•"/>
              <a:tabLst/>
            </a:pPr>
            <a:r>
              <a:rPr lang="en-US" altLang="en-US" sz="27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tracks signals in real time</a:t>
            </a:r>
          </a:p>
        </p:txBody>
      </p:sp>
    </p:spTree>
    <p:extLst>
      <p:ext uri="{BB962C8B-B14F-4D97-AF65-F5344CB8AC3E}">
        <p14:creationId xmlns:p14="http://schemas.microsoft.com/office/powerpoint/2010/main" val="184067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B54B4-E208-73BD-AE9C-35E994CF5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16467"/>
            <a:ext cx="10668000" cy="1015663"/>
          </a:xfrm>
        </p:spPr>
        <p:txBody>
          <a:bodyPr/>
          <a:lstStyle/>
          <a:p>
            <a:r>
              <a:rPr lang="en-IN" sz="6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FUTURE VISION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56F7A8-55BD-5F02-FBBD-A01843ABCA27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132115" y="1645031"/>
            <a:ext cx="97318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110000"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to monitor broader public health trends globally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110000"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more AI-driven predictive models for early interventions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110000"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personalized mental health support at scale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110000"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Foster community well-being with proactive, data-driven insights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6FF33"/>
              </a:buClr>
              <a:buSzPct val="110000"/>
              <a:buFont typeface="Arial" panose="020B0604020202020204" pitchFamily="34" charset="0"/>
              <a:buChar char="•"/>
              <a:tabLst/>
            </a:pPr>
            <a:r>
              <a:rPr lang="en-US" alt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evolve with ethical, human-centered AI principles</a:t>
            </a:r>
          </a:p>
        </p:txBody>
      </p:sp>
    </p:spTree>
    <p:extLst>
      <p:ext uri="{BB962C8B-B14F-4D97-AF65-F5344CB8AC3E}">
        <p14:creationId xmlns:p14="http://schemas.microsoft.com/office/powerpoint/2010/main" val="2574273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11DA4F8-D6A4-6CB0-24E9-AA4BF572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648"/>
            <a:ext cx="10515602" cy="1377184"/>
          </a:xfrm>
          <a:noFill/>
        </p:spPr>
        <p:txBody>
          <a:bodyPr>
            <a:noAutofit/>
          </a:bodyPr>
          <a:lstStyle/>
          <a:p>
            <a:pPr algn="ctr"/>
            <a:r>
              <a:rPr lang="en-US" sz="96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THANK YOU !!!!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30AE31-CE86-FC60-6A7C-BAA08076F2D2}"/>
              </a:ext>
            </a:extLst>
          </p:cNvPr>
          <p:cNvSpPr txBox="1"/>
          <p:nvPr/>
        </p:nvSpPr>
        <p:spPr>
          <a:xfrm>
            <a:off x="1382485" y="2053721"/>
            <a:ext cx="51054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u="sng" dirty="0">
                <a:solidFill>
                  <a:srgbClr val="B8D3E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PESENTED BY</a:t>
            </a:r>
            <a:r>
              <a:rPr lang="en-IN" sz="3000" dirty="0">
                <a:solidFill>
                  <a:srgbClr val="B8D3E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6E3E86-F239-B70B-D390-68F2619B59DF}"/>
              </a:ext>
            </a:extLst>
          </p:cNvPr>
          <p:cNvSpPr txBox="1"/>
          <p:nvPr/>
        </p:nvSpPr>
        <p:spPr>
          <a:xfrm>
            <a:off x="6096000" y="2023686"/>
            <a:ext cx="5105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u="sng" dirty="0">
                <a:solidFill>
                  <a:srgbClr val="B8D3E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CONTACT DETAILS</a:t>
            </a:r>
            <a:r>
              <a:rPr lang="en-IN" sz="3000" dirty="0">
                <a:solidFill>
                  <a:srgbClr val="B8D3E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</a:t>
            </a:r>
          </a:p>
          <a:p>
            <a:endParaRPr lang="en-IN" sz="3000" u="sng" dirty="0">
              <a:solidFill>
                <a:srgbClr val="B8D3E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51827F-5924-1F62-C627-242D30FA4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516" y="2730085"/>
            <a:ext cx="1918427" cy="26419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3E4B46-AFB1-8CED-B085-15233FC7BC9F}"/>
              </a:ext>
            </a:extLst>
          </p:cNvPr>
          <p:cNvSpPr txBox="1"/>
          <p:nvPr/>
        </p:nvSpPr>
        <p:spPr>
          <a:xfrm>
            <a:off x="1578428" y="5494411"/>
            <a:ext cx="5105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Sakshi Sheogekar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AAD386-7695-FE7C-3A5A-4A12968AAA51}"/>
              </a:ext>
            </a:extLst>
          </p:cNvPr>
          <p:cNvSpPr txBox="1"/>
          <p:nvPr/>
        </p:nvSpPr>
        <p:spPr>
          <a:xfrm>
            <a:off x="6564088" y="2740635"/>
            <a:ext cx="53775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+91 9109887298</a:t>
            </a:r>
          </a:p>
          <a:p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sheogekarsakshi3@gmail.com</a:t>
            </a:r>
          </a:p>
          <a:p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https://www.linkedin.com/in/sakshisheogekar-b1a239322/ </a:t>
            </a:r>
          </a:p>
          <a:p>
            <a:endParaRPr lang="en-IN" sz="2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IN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Indore, India</a:t>
            </a:r>
          </a:p>
        </p:txBody>
      </p:sp>
      <p:pic>
        <p:nvPicPr>
          <p:cNvPr id="14" name="Picture 2" descr="Phone, Call, Telephone, Technology, Conversation, Communications - Call Logo  Png Transparent Background - Free Transparent PNG Clipart Images Download">
            <a:extLst>
              <a:ext uri="{FF2B5EF4-FFF2-40B4-BE49-F238E27FC236}">
                <a16:creationId xmlns:a16="http://schemas.microsoft.com/office/drawing/2014/main" id="{A0EDCA5A-B2A3-D633-4746-F38B00D2E6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9" b="94772" l="10000" r="90000">
                        <a14:foregroundMark x1="62262" y1="83642" x2="56071" y2="82968"/>
                        <a14:foregroundMark x1="56071" y1="82968" x2="51071" y2="87690"/>
                        <a14:foregroundMark x1="51071" y1="87690" x2="54012" y2="91024"/>
                        <a14:foregroundMark x1="67008" y1="89975" x2="66429" y2="86172"/>
                        <a14:foregroundMark x1="66429" y1="86172" x2="61429" y2="83642"/>
                        <a14:backgroundMark x1="54167" y1="91737" x2="70000" y2="93423"/>
                        <a14:backgroundMark x1="70000" y1="93423" x2="55595" y2="94435"/>
                        <a14:backgroundMark x1="55595" y1="94435" x2="55357" y2="940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116" t="12868" r="21972" b="6059"/>
          <a:stretch>
            <a:fillRect/>
          </a:stretch>
        </p:blipFill>
        <p:spPr bwMode="auto">
          <a:xfrm>
            <a:off x="6183087" y="2784188"/>
            <a:ext cx="359230" cy="34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Gmail Logo 2025 - Free Download - Transparent PNG, SVG, Figma Plugin">
            <a:extLst>
              <a:ext uri="{FF2B5EF4-FFF2-40B4-BE49-F238E27FC236}">
                <a16:creationId xmlns:a16="http://schemas.microsoft.com/office/drawing/2014/main" id="{90CA2ED0-2B54-166D-9F8E-841B56E95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20" y="3570515"/>
            <a:ext cx="350641" cy="261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Linkedin logo png, Linkedin logo transparent png, Linkedin icon transparent  free png 23986926 PNG">
            <a:extLst>
              <a:ext uri="{FF2B5EF4-FFF2-40B4-BE49-F238E27FC236}">
                <a16:creationId xmlns:a16="http://schemas.microsoft.com/office/drawing/2014/main" id="{B01BA26A-3061-F62F-A923-2FDB62914D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6" t="19417" r="17302" b="20635"/>
          <a:stretch>
            <a:fillRect/>
          </a:stretch>
        </p:blipFill>
        <p:spPr bwMode="auto">
          <a:xfrm>
            <a:off x="6172203" y="4327301"/>
            <a:ext cx="370114" cy="33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Location symbol Images - Free Download on Freepik">
            <a:extLst>
              <a:ext uri="{FF2B5EF4-FFF2-40B4-BE49-F238E27FC236}">
                <a16:creationId xmlns:a16="http://schemas.microsoft.com/office/drawing/2014/main" id="{8687111A-3042-A661-D56F-7FFC1EF201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127" t="16190" r="23968" b="16190"/>
          <a:stretch>
            <a:fillRect/>
          </a:stretch>
        </p:blipFill>
        <p:spPr bwMode="auto">
          <a:xfrm>
            <a:off x="6273505" y="5372045"/>
            <a:ext cx="257926" cy="33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21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_Office Theme">
  <a:themeElements>
    <a:clrScheme name="Custom 24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264653"/>
      </a:accent1>
      <a:accent2>
        <a:srgbClr val="2A9D8F"/>
      </a:accent2>
      <a:accent3>
        <a:srgbClr val="E9C46A"/>
      </a:accent3>
      <a:accent4>
        <a:srgbClr val="F4A261"/>
      </a:accent4>
      <a:accent5>
        <a:srgbClr val="E76F51"/>
      </a:accent5>
      <a:accent6>
        <a:srgbClr val="FFFFFF"/>
      </a:accent6>
      <a:hlink>
        <a:srgbClr val="FFFFFF"/>
      </a:hlink>
      <a:folHlink>
        <a:srgbClr val="FFFFFF"/>
      </a:folHlink>
    </a:clrScheme>
    <a:fontScheme name="Heritage and History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ck History Month_TM10103076_Win32_LH_v4" id="{5AE25372-5B71-4B3F-A332-C4D84C968E46}" vid="{07F4610E-88B6-4CC8-AAA7-899DFEA9E17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89EEA4-141F-4066-B57B-E44468FB3D6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8A967B1-A0A0-415E-82CC-A85AEE3A67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FAAC47-BD84-465D-B982-7A75BCC08F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Black History Month presentation</Template>
  <TotalTime>48</TotalTime>
  <Words>202</Words>
  <Application>Microsoft Office PowerPoint</Application>
  <PresentationFormat>Widescreen</PresentationFormat>
  <Paragraphs>36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ADLaM Display</vt:lpstr>
      <vt:lpstr>Aptos Display</vt:lpstr>
      <vt:lpstr>Arial</vt:lpstr>
      <vt:lpstr>Cavolini</vt:lpstr>
      <vt:lpstr>Segoe UI</vt:lpstr>
      <vt:lpstr>Times New Roman</vt:lpstr>
      <vt:lpstr>2_Office Theme</vt:lpstr>
      <vt:lpstr>PowerPoint Presentation</vt:lpstr>
      <vt:lpstr>PowerPoint Presentation</vt:lpstr>
      <vt:lpstr>KEY FEATURES &amp; INSIGHTS </vt:lpstr>
      <vt:lpstr>WHAT MAKES ANTARDHWANI UNIQUE ?? </vt:lpstr>
      <vt:lpstr>FUTURE VISION </vt:lpstr>
      <vt:lpstr>THANK YOU !!!!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samarth sheogekar</dc:creator>
  <cp:keywords/>
  <dc:description/>
  <cp:lastModifiedBy>samarth sheogekar</cp:lastModifiedBy>
  <cp:revision>1</cp:revision>
  <dcterms:created xsi:type="dcterms:W3CDTF">2026-03-20T08:24:28Z</dcterms:created>
  <dcterms:modified xsi:type="dcterms:W3CDTF">2026-03-20T10:06:10Z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